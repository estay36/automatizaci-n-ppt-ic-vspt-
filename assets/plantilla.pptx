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2"/>
    <p:sldMasterId id="2147483744" r:id="rId3"/>
  </p:sldMasterIdLst>
  <p:notesMasterIdLst>
    <p:notesMasterId r:id="rId92"/>
  </p:notesMasterIdLst>
  <p:handoutMasterIdLst>
    <p:handoutMasterId r:id="rId93"/>
  </p:handoutMasterIdLst>
  <p:sldIdLst/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SPT" id="{9FB3B494-7EE7-A84E-9283-B998E4E7C301}">
          <p14:sldIdLst>
            <p14:sldId id="268"/>
          </p14:sldIdLst>
        </p14:section>
        <p14:section name="xCategorías Vino Masivo + Premium + Espumante + Vino-Cooler-Sangría" id="{6B18F8F2-0921-48D0-A6B8-570A172E7C9D}">
          <p14:sldIdLst>
            <p14:sldId id="545"/>
            <p14:sldId id="566"/>
          </p14:sldIdLst>
        </p14:section>
        <p14:section name="xEmpresa Vino Masivo + Premium + Espumante + Vino_Cooler_Sangría" id="{F81CF811-2C6D-47F0-98BD-C49C4275F866}">
          <p14:sldIdLst>
            <p14:sldId id="550"/>
            <p14:sldId id="567"/>
            <p14:sldId id="552"/>
            <p14:sldId id="553"/>
            <p14:sldId id="554"/>
            <p14:sldId id="555"/>
            <p14:sldId id="556"/>
            <p14:sldId id="557"/>
          </p14:sldIdLst>
        </p14:section>
        <p14:section name="xMarca Vino Masivo + Premium + Espumante + Vino_Cooler_Sangría" id="{E5804A63-5D46-4195-AC86-31B3347EA1B6}">
          <p14:sldIdLst>
            <p14:sldId id="558"/>
            <p14:sldId id="559"/>
            <p14:sldId id="560"/>
            <p14:sldId id="568"/>
            <p14:sldId id="570"/>
            <p14:sldId id="572"/>
            <p14:sldId id="3978"/>
            <p14:sldId id="562"/>
            <p14:sldId id="573"/>
            <p14:sldId id="564"/>
            <p14:sldId id="565"/>
          </p14:sldIdLst>
        </p14:section>
        <p14:section name="xCategorías Vino Masivo + Premium" id="{F9F6EA8E-D2F4-4890-BD29-7F6920F9D74F}">
          <p14:sldIdLst>
            <p14:sldId id="269"/>
            <p14:sldId id="532"/>
          </p14:sldIdLst>
        </p14:section>
        <p14:section name="Vino Masivo" id="{F46FBD76-6E51-4DFE-B1BD-8A4CDD731754}">
          <p14:sldIdLst>
            <p14:sldId id="531"/>
            <p14:sldId id="444"/>
            <p14:sldId id="445"/>
            <p14:sldId id="446"/>
            <p14:sldId id="516"/>
            <p14:sldId id="443"/>
            <p14:sldId id="449"/>
            <p14:sldId id="451"/>
            <p14:sldId id="452"/>
            <p14:sldId id="453"/>
            <p14:sldId id="454"/>
            <p14:sldId id="455"/>
            <p14:sldId id="441"/>
            <p14:sldId id="458"/>
            <p14:sldId id="459"/>
          </p14:sldIdLst>
        </p14:section>
        <p14:section name="Vino Premium" id="{62295DDC-6B57-463C-A572-586279364A1C}">
          <p14:sldIdLst>
            <p14:sldId id="461"/>
            <p14:sldId id="475"/>
            <p14:sldId id="476"/>
            <p14:sldId id="477"/>
            <p14:sldId id="542"/>
            <p14:sldId id="3979"/>
            <p14:sldId id="480"/>
            <p14:sldId id="515"/>
            <p14:sldId id="483"/>
            <p14:sldId id="484"/>
            <p14:sldId id="486"/>
            <p14:sldId id="487"/>
            <p14:sldId id="488"/>
            <p14:sldId id="538"/>
            <p14:sldId id="492"/>
            <p14:sldId id="493"/>
          </p14:sldIdLst>
        </p14:section>
        <p14:section name="Espumante" id="{82796EF2-E334-4DF8-A07B-688B51A8563A}">
          <p14:sldIdLst>
            <p14:sldId id="494"/>
            <p14:sldId id="495"/>
            <p14:sldId id="496"/>
            <p14:sldId id="497"/>
            <p14:sldId id="539"/>
            <p14:sldId id="500"/>
            <p14:sldId id="501"/>
            <p14:sldId id="503"/>
            <p14:sldId id="504"/>
            <p14:sldId id="549"/>
            <p14:sldId id="507"/>
            <p14:sldId id="508"/>
            <p14:sldId id="541"/>
            <p14:sldId id="510"/>
            <p14:sldId id="511"/>
          </p14:sldIdLst>
        </p14:section>
        <p14:section name="Vino_Cooler_Sangría" id="{FB558424-C6B3-4CA9-A43E-F29EAADB2C1E}">
          <p14:sldIdLst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</p14:sldIdLst>
        </p14:section>
        <p14:section name="xCategorías Vino Masivo + Premium + Espumante + BLYS" id="{C6435C0B-2A61-44ED-8BE3-C16DDD82453B}">
          <p14:sldIdLst>
            <p14:sldId id="547"/>
            <p14:sldId id="39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71" userDrawn="1">
          <p15:clr>
            <a:srgbClr val="A4A3A4"/>
          </p15:clr>
        </p15:guide>
        <p15:guide id="2" orient="horz" pos="4065" userDrawn="1">
          <p15:clr>
            <a:srgbClr val="A4A3A4"/>
          </p15:clr>
        </p15:guide>
        <p15:guide id="3" pos="279" userDrawn="1">
          <p15:clr>
            <a:srgbClr val="A4A3A4"/>
          </p15:clr>
        </p15:guide>
        <p15:guide id="4" pos="7401" userDrawn="1">
          <p15:clr>
            <a:srgbClr val="A4A3A4"/>
          </p15:clr>
        </p15:guide>
        <p15:guide id="5" orient="horz" pos="1412" userDrawn="1">
          <p15:clr>
            <a:srgbClr val="A4A3A4"/>
          </p15:clr>
        </p15:guide>
        <p15:guide id="6" orient="horz" pos="3317" userDrawn="1">
          <p15:clr>
            <a:srgbClr val="A4A3A4"/>
          </p15:clr>
        </p15:guide>
        <p15:guide id="7" orient="horz" pos="799" userDrawn="1">
          <p15:clr>
            <a:srgbClr val="A4A3A4"/>
          </p15:clr>
        </p15:guide>
        <p15:guide id="8" orient="horz" pos="30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5B5B"/>
    <a:srgbClr val="FF00FF"/>
    <a:srgbClr val="00FF00"/>
    <a:srgbClr val="996633"/>
    <a:srgbClr val="993366"/>
    <a:srgbClr val="9999FF"/>
    <a:srgbClr val="CC99FF"/>
    <a:srgbClr val="5353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880" autoAdjust="0"/>
    <p:restoredTop sz="95036" autoAdjust="0"/>
  </p:normalViewPr>
  <p:slideViewPr>
    <p:cSldViewPr snapToGrid="0">
      <p:cViewPr varScale="1">
        <p:scale>
          <a:sx n="93" d="100"/>
          <a:sy n="93" d="100"/>
        </p:scale>
        <p:origin x="108" y="474"/>
      </p:cViewPr>
      <p:guideLst>
        <p:guide orient="horz" pos="1071"/>
        <p:guide orient="horz" pos="4065"/>
        <p:guide pos="279"/>
        <p:guide pos="7401"/>
        <p:guide orient="horz" pos="1412"/>
        <p:guide orient="horz" pos="3317"/>
        <p:guide orient="horz" pos="799"/>
        <p:guide orient="horz" pos="30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02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92" Type="http://schemas.openxmlformats.org/officeDocument/2006/relationships/notesMaster" Target="notesMasters/notesMaster1.xml"/><Relationship Id="rId93" Type="http://schemas.openxmlformats.org/officeDocument/2006/relationships/handoutMaster" Target="handoutMasters/handoutMaster1.xml"/><Relationship Id="rId94" Type="http://schemas.openxmlformats.org/officeDocument/2006/relationships/presProps" Target="presProps.xml"/><Relationship Id="rId95" Type="http://schemas.openxmlformats.org/officeDocument/2006/relationships/viewProps" Target="viewProps.xml"/><Relationship Id="rId96" Type="http://schemas.openxmlformats.org/officeDocument/2006/relationships/theme" Target="theme/theme1.xml"/><Relationship Id="rId9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9230B0E-39ED-45EA-AD95-669D0616B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82B798-201A-4B14-B1F0-6A660C5C72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2F5857-B39B-4284-A086-C6DE2719C9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EF34-7656-4396-AEBE-2B554E5E9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82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SPT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55A03D6B-9DE1-C748-B13A-1113364E7A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910" t="-31677" r="77145" b="739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A1B6B92-2A7D-0943-937F-4EDCB0D8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88" y="407989"/>
            <a:ext cx="10515600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049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SPT Contenido 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EE86882B-BA63-AF4E-8601-7AE5696DF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11" t="16984" r="1070" b="24082"/>
          <a:stretch/>
        </p:blipFill>
        <p:spPr>
          <a:xfrm rot="10800000">
            <a:off x="8091948" y="1"/>
            <a:ext cx="4100052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CF74727-2A21-4046-9602-B32BA7563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88" y="407989"/>
            <a:ext cx="10515600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5274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SPT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C11C-FF76-4348-B1AF-EED43DE59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88" y="407989"/>
            <a:ext cx="10515600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4482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SPT 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C1B37C-45ED-F040-8160-B87D4BA9F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81701" y="2781301"/>
            <a:ext cx="6210300" cy="40767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A5854A3-36C3-7C40-85F4-E5C95348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88" y="407989"/>
            <a:ext cx="10515600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724330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SPT Sub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26E3F79A-3B2E-B540-8C28-C1BBFAFCED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6" t="-28226" r="16934" b="657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71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SPT 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ADAFFDB8-8665-2D45-9610-8B58419D90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11747" r="14063" b="1822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그림 개체 틀 4">
            <a:extLst>
              <a:ext uri="{FF2B5EF4-FFF2-40B4-BE49-F238E27FC236}">
                <a16:creationId xmlns:a16="http://schemas.microsoft.com/office/drawing/2014/main" id="{F1D4EC7F-72BD-4F87-8691-D0608DB42B6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20739" y="571693"/>
            <a:ext cx="3860800" cy="5714614"/>
          </a:xfrm>
          <a:prstGeom prst="roundRect">
            <a:avLst>
              <a:gd name="adj" fmla="val 6282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972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latin typeface="Arial" panose="020B0604020202020204" pitchFamily="34" charset="0"/>
              </a:defRPr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4053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2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18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6.xml"/><Relationship Id="rId17" Type="http://schemas.openxmlformats.org/officeDocument/2006/relationships/theme" Target="../theme/theme3.xml"/><Relationship Id="rId18" Type="http://schemas.openxmlformats.org/officeDocument/2006/relationships/image" Target="../media/image7.png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6CABFB1-4223-3946-A885-8C78F7EE565B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18" y="183947"/>
            <a:ext cx="647829" cy="4038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E5DD11-4203-3B86-0998-43A52FA3707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323824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4"/>
    <p:sldLayoutId id="2147483731" r:id="rId7"/>
    <p:sldLayoutId id="2147483732" r:id="rId8"/>
    <p:sldLayoutId id="2147483741" r:id="rId14"/>
    <p:sldLayoutId id="214748378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6CABFB1-4223-3946-A885-8C78F7EE565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18" y="183947"/>
            <a:ext cx="647829" cy="4038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102E50-572C-CA50-6864-165865D7D52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303583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BPN.potx" id="{1959E353-C98D-4097-AE6C-05990407DA75}" vid="{3F6A3F32-EA18-47BD-8AFD-CC1515B9F0E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BPN.potx" id="{1959E353-C98D-4097-AE6C-05990407DA75}" vid="{B533221D-7655-484D-AF58-7A7843D2D45E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BPN.potx" id="{1959E353-C98D-4097-AE6C-05990407DA75}" vid="{A8F4D2DF-EC6F-4ECD-8F11-D27A0A24EEF4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026e4c1-5892-497a-b9da-ee493c9f0364}" enabled="0" method="" siteId="{d026e4c1-5892-497a-b9da-ee493c9f03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BPN CLARO</Template>
  <TotalTime>80152</TotalTime>
  <Words>4922</Words>
  <Application>Microsoft Office PowerPoint</Application>
  <PresentationFormat>Widescreen</PresentationFormat>
  <Paragraphs>2324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87</vt:i4>
      </vt:variant>
    </vt:vector>
  </HeadingPairs>
  <TitlesOfParts>
    <vt:vector size="98" baseType="lpstr">
      <vt:lpstr>맑은 고딕</vt:lpstr>
      <vt:lpstr>Aptos</vt:lpstr>
      <vt:lpstr>Arial</vt:lpstr>
      <vt:lpstr>Calibri</vt:lpstr>
      <vt:lpstr>Calibri Light</vt:lpstr>
      <vt:lpstr>Futura Std Book</vt:lpstr>
      <vt:lpstr>Gotham Bold Regular</vt:lpstr>
      <vt:lpstr>Custom Design</vt:lpstr>
      <vt:lpstr>1_Custom Design</vt:lpstr>
      <vt:lpstr>2_Custom Design</vt:lpstr>
      <vt:lpstr>3_Custom Design</vt:lpstr>
      <vt:lpstr>PowerPoint Presentation</vt:lpstr>
      <vt:lpstr>PowerPoint Presentation</vt:lpstr>
      <vt:lpstr>INVERSIONES Y SOS POR CATEGORÍAS 01 DE ENERO AL 02 DE OCTUBRE 2026</vt:lpstr>
      <vt:lpstr>PowerPoint Presentation</vt:lpstr>
      <vt:lpstr>INVERSIONES Y SOS POR EMPRESA 01 DE ENERO AL 02 DE OCTUBRE 2026</vt:lpstr>
      <vt:lpstr>INVERSIONES MENSUALES (000) 01 DE ENERO 2025 AL 02 DE OCTUBRE 2026</vt:lpstr>
      <vt:lpstr>MIX DE MEDIOS 01 DE ENERO 2025 AL 02 DE OCTUBRE 2026</vt:lpstr>
      <vt:lpstr>PowerPoint Presentation</vt:lpstr>
      <vt:lpstr>TRPS Y SOV POR EMPRESA 01 DE ENERO AL 02 DE OCTUBRE 2026</vt:lpstr>
      <vt:lpstr>TRPS MENSUALES 01 DE ENERO 2025 AL 02 DE OCTUBRE 2026</vt:lpstr>
      <vt:lpstr>SOI / SOV </vt:lpstr>
      <vt:lpstr>PowerPoint Presentation</vt:lpstr>
      <vt:lpstr>INVERSIONES Y SOS POR MARCA 01 DE ENERO AL 02 DE OCTUBRE 2026</vt:lpstr>
      <vt:lpstr>INVERSIONES MENSUALES (000) 01 DE ENERO 2025 AL 02 DE OCTUBRE 2026</vt:lpstr>
      <vt:lpstr>MIX DE MEDIOS 01 DE ENERO AL 31 DE DICIEMBRE 2025</vt:lpstr>
      <vt:lpstr>MIX DE MEDIOS 01 DE ENERO AL 31 DE DICIEMBRE 2025</vt:lpstr>
      <vt:lpstr>MIX DE MEDIOS 01 DE ENERO AL 02 DE OCTUBRE 2026</vt:lpstr>
      <vt:lpstr>MIX DE MEDIOS 01 DE ENERO AL 02 DE OCTUBRE 2026</vt:lpstr>
      <vt:lpstr>PowerPoint Presentation</vt:lpstr>
      <vt:lpstr>TRPS Y SOV POR MARCA 01 DE ENERO AL 02 DE OCTUBRE 2026</vt:lpstr>
      <vt:lpstr>TRPS MENSUALES 01 DE ENERO 2025 AL 02 DE OCTUBRE 2026</vt:lpstr>
      <vt:lpstr>SOI / SOV </vt:lpstr>
      <vt:lpstr>PowerPoint Presentation</vt:lpstr>
      <vt:lpstr>INVERSIONES Y SOS POR CATEGORÍAS 01 DE ENERO AL 02 DE OCTUBRE 2026</vt:lpstr>
      <vt:lpstr>PowerPoint Presentation</vt:lpstr>
      <vt:lpstr>INVERSIONES Y SOS POR MARCA 01 DE ENERO AL 02 DE OCTUBRE 2026</vt:lpstr>
      <vt:lpstr>INVERSIONES MENSUALES (000) 01 DE ENERO 2025 AL 02 DE OCTUBRE 2026</vt:lpstr>
      <vt:lpstr>SOS MENSUALES POR MARCA 01 DE ENERO 2025 AL 02 DE OCTUBRE 2026</vt:lpstr>
      <vt:lpstr>MIX DE MEDIOS 01 DE ENERO 2025 AL 02 DE OCTUBRE 2026</vt:lpstr>
      <vt:lpstr>PowerPoint Presentation</vt:lpstr>
      <vt:lpstr>TRPS Y SOV POR MARCA 01 DE ENERO AL 02 DE OCTUBRE 2026</vt:lpstr>
      <vt:lpstr>SOV MENSUALES POR MARCA 01 DE ENERO 2025 AL 02 DE OCTUBRE 2026</vt:lpstr>
      <vt:lpstr>TRPS SEMANALES 01 DE ENERO 2022 AL 02 DE OCTUBRE 2026</vt:lpstr>
      <vt:lpstr>MIX DE CANALES 01 DE ENERO 2023 AL 02 DE OCTUBRE 2026</vt:lpstr>
      <vt:lpstr>PowerPoint Presentation</vt:lpstr>
      <vt:lpstr>RADIO: SOS MENSUALES POR MARCA 01 DE ENERO 2025 AL 02 DE OCTUBRE 2026</vt:lpstr>
      <vt:lpstr>RADIO: MIX DE SOPORTES 01 DE ENERO AL 02 DE OCTUBRE 2026</vt:lpstr>
      <vt:lpstr>PowerPoint Presentation</vt:lpstr>
      <vt:lpstr>VÍA PÚBLICA: SOS MENSUALES POR MARCA 01 DE ENERO 2025 AL 02 DE OCTUBRE 2026</vt:lpstr>
      <vt:lpstr>PowerPoint Presentation</vt:lpstr>
      <vt:lpstr>INVERSIONES Y SOS POR MARCA 01 DE ENERO AL 02 DE OCTUBRE 2026</vt:lpstr>
      <vt:lpstr>INVERSIONES Y SOS POR MARCA 01 DE ENERO AL 02 DE OCTUBRE 2025 / 2026</vt:lpstr>
      <vt:lpstr>SOS MENSUALES POR MARCA 01 DE ENERO 2025 AL 02 DE OCTUBRE 2026</vt:lpstr>
      <vt:lpstr>MIX DE MEDIOS 01 DE ENERO AL 02 DE OCTUBRE 2026</vt:lpstr>
      <vt:lpstr>MIX DE MEDIOS 01 DE ENERO AL 02 DE OCTUBRE 2026</vt:lpstr>
      <vt:lpstr>PowerPoint Presentation</vt:lpstr>
      <vt:lpstr>TRPS Y SOV POR MARCA 01 DE ENERO AL 02 DE OCTUBRE 2026</vt:lpstr>
      <vt:lpstr>SOV MENSUALES POR MARCA 01 DE ENERO 2025 AL 02 DE OCTUBRE 2026</vt:lpstr>
      <vt:lpstr>TRPS SEMANALES 01 DE ENERO 2022 AL 02 DE OCTUBRE 2026</vt:lpstr>
      <vt:lpstr>MIX DE CANALES 01 DE ENERO 2025 AL 02 DE OCTUBRE 2026</vt:lpstr>
      <vt:lpstr>PowerPoint Presentation</vt:lpstr>
      <vt:lpstr>RADIO: SOS MENSUALES POR MARCA 01 DE ENERO 2025 AL 02 DE OCTUBRE 2026</vt:lpstr>
      <vt:lpstr>RADIO: MIX DE SOPORTES 01 DE ENERO AL 02 DE OCTUBRE 2026</vt:lpstr>
      <vt:lpstr>PowerPoint Presentation</vt:lpstr>
      <vt:lpstr>VÍA PÚBLICA: SOS MENSUALES POR MARCA 01 DE ENERO 2025 AL 02 DE OCTUBRE 2026 </vt:lpstr>
      <vt:lpstr>PowerPoint Presentation</vt:lpstr>
      <vt:lpstr>INVERSIONES Y SOS POR MARCA 01 DE ENERO AL 02 DE OCTUBRE 2026</vt:lpstr>
      <vt:lpstr>INVERSIONES Y SOS POR MARCA 01 DE ENERO AL 02 DE OCTUBRE 2025 / 2026</vt:lpstr>
      <vt:lpstr>PowerPoint Presentation</vt:lpstr>
      <vt:lpstr>MIX DE MEDIOS 01 DE ENERO AL 02 DE OCTUBRE 2026</vt:lpstr>
      <vt:lpstr>PowerPoint Presentation</vt:lpstr>
      <vt:lpstr>TRPS Y SOV POR MARCA 01 DE ENERO AL 02 DE OCTUBRE 2026</vt:lpstr>
      <vt:lpstr>SOV MENSUALES POR MARCA 01 DE ENERO 2023 AL 02 DE OCTUBRE 2026</vt:lpstr>
      <vt:lpstr>TRPS SEMANALES 01 DE ENERO 2023 AL 02 DE OCTUBRE 2026</vt:lpstr>
      <vt:lpstr>MIX DE CANALES 01 DE ENERO 2024 AL 02 DE OCTUBRE 2026 </vt:lpstr>
      <vt:lpstr>PowerPoint Presentation</vt:lpstr>
      <vt:lpstr>RADIO: SOS MENSUALES POR MARCA 01 DE ENERO 2023 AL 02 DE OCTUBRE 2026  </vt:lpstr>
      <vt:lpstr>RADIO: MIX DE SOPORTES 01 DE ENERO AL 31 DE DICIEMBRE 2024 / 01 DE ENRO AL 02 DE OCTUBRE 2026</vt:lpstr>
      <vt:lpstr>PowerPoint Presentation</vt:lpstr>
      <vt:lpstr>VÍA PÚBLICA: SOS MENSUALES POR MARCA 01 DE ENERO 2025 AL 02 DE OCTUBRE 2026</vt:lpstr>
      <vt:lpstr>PowerPoint Presentation</vt:lpstr>
      <vt:lpstr>INVERSIONES Y SOS POR MARCA 01 DE ENERO AL 02 DE OCTUBRE 2026</vt:lpstr>
      <vt:lpstr>INVERSIONES Y SOS POR MARCA 01 DE ENERO AL 02 DE OCTUBRE 2025 / 2026</vt:lpstr>
      <vt:lpstr>PowerPoint Presentation</vt:lpstr>
      <vt:lpstr>MIX DE MEDIOS 01 DE ENERO AL 02 DE OCTUBRE 2026</vt:lpstr>
      <vt:lpstr>PowerPoint Presentation</vt:lpstr>
      <vt:lpstr>TRPS Y SOV POR MARCA 01 DE ENERO AL 02 DE OCTUBRE 2026</vt:lpstr>
      <vt:lpstr>SOV MENSUALES POR MARCA 01 DE ENERO 2025 AL 02 DE OCTUBRE 2026</vt:lpstr>
      <vt:lpstr>TRPS SEMANALES 01 DE ENERO 2024 AL 02 DE COTUBRE 2026</vt:lpstr>
      <vt:lpstr>MIX DE CANALES 01 DE ENERO 2024 AL 02 DE OCTUBRE 2026 </vt:lpstr>
      <vt:lpstr>PowerPoint Presentation</vt:lpstr>
      <vt:lpstr>RADIO: SOS MENSUALES POR MARCA 01 DE ENERO 2022 AL 02 DE OCTUBRE 2026  </vt:lpstr>
      <vt:lpstr>RADIO: MIX DE SOPORTES 01 DE ENERO 2025 AL 02 DE OCTUBRE 2026</vt:lpstr>
      <vt:lpstr>PowerPoint Presentation</vt:lpstr>
      <vt:lpstr>VÍA PÚBLICA: SOS MENSUALES POR MARCA 01 DE ENERO 2025 AL 02 DE OCTUBRE 2026</vt:lpstr>
      <vt:lpstr>PowerPoint Presentation</vt:lpstr>
      <vt:lpstr>INVERSIONES Y SOS POR MARCA 01 DE ENERO AL 02 DE OCTUBRE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Rios, Horacio (STG-BPN)</dc:creator>
  <cp:lastModifiedBy>HORACIO RIOS (Omnicom)</cp:lastModifiedBy>
  <cp:revision>2361</cp:revision>
  <dcterms:created xsi:type="dcterms:W3CDTF">2020-11-10T19:57:09Z</dcterms:created>
  <dcterms:modified xsi:type="dcterms:W3CDTF">2026-10-12T23:35:05Z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2026-09-09T15:53:25Z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900247b8-de8a-49ff-8e6f-690495ef597b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10, 3, 0, 1</vt:lpwstr>
  </property>
  <property fmtid="{D5CDD505-2E9C-101B-9397-08002B2CF9AE}" pid="10" name="ClassificationContentMarkingFooterLocations">
    <vt:lpwstr>Custom Design:4\1_Custom Design:4\2_Custom Design:4\3_Custom Design:4</vt:lpwstr>
  </property>
  <property fmtid="{D5CDD505-2E9C-101B-9397-08002B2CF9AE}" pid="11" name="ClassificationContentMarkingFooterText">
    <vt:lpwstr>Confidential - Not for Public Consumption or Distribution</vt:lpwstr>
  </property>
</Properties>
</file>